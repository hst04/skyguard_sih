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E7490"/>
                </a:solidFill>
                <a:latin typeface="Arial"/>
              </a:defRPr>
            </a:pPr>
            <a:r>
              <a:t>SkyGuard AI: Split-Edge/Cloud Anomaly Detection for AWS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Problem Statement ID:</a:t>
            </a:r>
            <a:r>
              <a:rPr sz="1350" b="0">
                <a:solidFill>
                  <a:srgbClr val="334155"/>
                </a:solidFill>
                <a:latin typeface="Arial"/>
              </a:rPr>
              <a:t> [Insert PS ID]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Problem Statement Title:</a:t>
            </a:r>
            <a:r>
              <a:rPr sz="1350" b="0">
                <a:solidFill>
                  <a:srgbClr val="334155"/>
                </a:solidFill>
                <a:latin typeface="Arial"/>
              </a:rPr>
              <a:t> Split-Edge/Cloud Anomaly Detection, Dual-Model Confluence, and Predictive Maintenance for Automatic Weather Stations (AWS)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Theme:</a:t>
            </a:r>
            <a:r>
              <a:rPr sz="1350" b="0">
                <a:solidFill>
                  <a:srgbClr val="334155"/>
                </a:solidFill>
                <a:latin typeface="Arial"/>
              </a:rPr>
              <a:t> Disaster Management / Clean &amp; Green Technology / Telemetry Quality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PS Category:</a:t>
            </a:r>
            <a:r>
              <a:rPr sz="1350" b="0">
                <a:solidFill>
                  <a:srgbClr val="334155"/>
                </a:solidFill>
                <a:latin typeface="Arial"/>
              </a:rPr>
              <a:t> Software / IoT / Hardware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Team ID:</a:t>
            </a:r>
            <a:r>
              <a:rPr sz="1350" b="0">
                <a:solidFill>
                  <a:srgbClr val="334155"/>
                </a:solidFill>
                <a:latin typeface="Arial"/>
              </a:rPr>
              <a:t> [Insert Team ID]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Arial"/>
              </a:rPr>
              <a:t>Team Name:</a:t>
            </a:r>
            <a:r>
              <a:rPr sz="1350" b="0">
                <a:solidFill>
                  <a:srgbClr val="334155"/>
                </a:solidFill>
                <a:latin typeface="Arial"/>
              </a:rPr>
              <a:t> [Insert Team Name] (Registered on portal)</a:t>
            </a:r>
          </a:p>
          <a:p>
            <a:pPr>
              <a:spcBef>
                <a:spcPts val="1600"/>
              </a:spcBef>
            </a:pPr>
            <a:r>
              <a:rPr sz="1150" b="1">
                <a:solidFill>
                  <a:srgbClr val="059669"/>
                </a:solidFill>
                <a:latin typeface="Arial"/>
              </a:rPr>
              <a:t>* Transforming Remote Weather Sensing from Reactive Alarms to Deterministic AI Assurance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IDEA TITLE: SkyGuard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[Insert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48640" y="1051560"/>
            <a:ext cx="62179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1. THE PROBLEM ADDRESSED (Univariate Blindness &amp; Alarm Fatigue)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Automatic Weather Stations (AWS) in remote, harsh terrain suffer silent sensor drift and decoupling.</a:t>
            </a:r>
            <a:br/>
            <a:r>
              <a:t>- Static Single-Parameter Limits (e.g. RH &gt; 100%) trigger severe alarm fatigue during storms while completely missing gradual calibration loss.</a:t>
            </a:r>
            <a:br/>
            <a:r>
              <a:t>- 24/7 continuous cellular streaming saturates remote networks and drains battery power.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548640" y="2697480"/>
            <a:ext cx="621792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2. PROPOSED SOLUTION (Split-Edge/Cloud Pipeline)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- 1.0 Edge Layer (ESP32): Zero-cost IMD physical checks (&lt;0.1ms) + INT8 Quantized PyOD (&lt;15ms). Normal telemetry is buffered locally; anomalies trigger an MQTT Context Burst (trigger + 2-4 hr history), saving &gt;90% bandwidth.</a:t>
            </a:r>
            <a:br/>
            <a:r>
              <a:t>- 2.0 Cloud Layer (FastAPI): Multi-Scale Analyzer cross-checks dT/dt, dP/dt, dRH/dt and feeds Dual-Model Confluence (Model A Weather vs Model B Defect) with confidence scoring (0-100%).</a:t>
            </a:r>
            <a:br/>
            <a:r>
              <a:t>- 3.0 Operational Assurance: SHAP XAI attributions, EWMA Predictive Maintenance (&gt;=14 days notice), and Multivariate LSTM Imputation.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48640" y="4709160"/>
            <a:ext cx="621792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3. INNOVATION &amp; UNIQUENESS OF THE SOLUTION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Synthetic Defect Generation: Overcomes the total scarcity of real-world failure data by training Model B on 5 mathematical fault archetypes (Freeze, Spike, Noise, Drift, Dropout).</a:t>
            </a:r>
            <a:br/>
            <a:r>
              <a:t>- Deterministic Confluence Matrix: Auditable, reproducible AI reasoning truth table without LLM hallucinations in critical alerting loops.</a:t>
            </a:r>
            <a:br/>
            <a:r>
              <a:t>- Interactive 3D Digital Twin: Live Three.js station AGRA-01 with camera auto-lerp to culprit sensor.</a:t>
            </a:r>
          </a:p>
        </p:txBody>
      </p:sp>
      <p:pic>
        <p:nvPicPr>
          <p:cNvPr id="15365" name="Picture 15364" descr="aws_weather_sta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51560"/>
            <a:ext cx="4663440" cy="3291840"/>
          </a:xfrm>
          <a:prstGeom prst="rect">
            <a:avLst/>
          </a:prstGeom>
        </p:spPr>
      </p:pic>
      <p:sp>
        <p:nvSpPr>
          <p:cNvPr id="15366" name="Rounded Rectangle 15365"/>
          <p:cNvSpPr/>
          <p:nvPr/>
        </p:nvSpPr>
        <p:spPr>
          <a:xfrm>
            <a:off x="6949440" y="4480560"/>
            <a:ext cx="4663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7490"/>
                </a:solidFill>
                <a:latin typeface="Arial"/>
              </a:defRPr>
            </a:pPr>
            <a:r>
              <a:t>OPERATIONAL CONTEXT: AUTOMATIC WEATHER STATIONS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Deployed in remote mountains, deserts, and coastal high-risk zones.</a:t>
            </a:r>
            <a:br/>
            <a:r>
              <a:t>- Unattended battery &amp; solar operation with strict power constraints.</a:t>
            </a:r>
            <a:br/>
            <a:r>
              <a:t>- SkyGuard AI's Split Architecture cuts cellular data by &gt;90% while providing continuous real-time diagnostic assurance.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TECHNICAL APPROACH &amp;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[Insert 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621792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1. TECHNOLOGIES USED ACROSS THE SPLIT STACK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Edge Firmware &amp; HW: ESP32-S3 (240 MHz Xtensa), C++/FreeRTOS, TensorFlow Lite for Microcontrollers (TFLite Micro INT8), PyOD.</a:t>
            </a:r>
            <a:br/>
            <a:r>
              <a:t>- Cloud Core &amp; ML: Python 3.11, FastAPI, LightGBM / 1D-CNN, PyTorch / ONNX, SHAP TreeExplainer, Mosquitto MQTT (TLS :8883), Docker.</a:t>
            </a:r>
            <a:br/>
            <a:r>
              <a:t>- Dashboard &amp; Persistence: Supabase PostgreSQL, Next.js 14, React Three Fiber (Three.js 3D Twin), Tailwind CSS, SSE 1 Hz streaming.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2697480"/>
            <a:ext cx="62179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2. THREE-LAYER IMPLEMENTATION PIPELINE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- 1.0 Edge Device Layer: Zero-cost IMD limits (&lt;0.1ms) + Quantized INT8 Autoencoder (&lt;15ms, &lt;48KB SRAM). Flags trigger MQTT context burst (incident + 2-4 hr pre-anomaly sliding buffer).</a:t>
            </a:r>
            <a:br/>
            <a:r>
              <a:t>- 2.0 Cloud Analytics Core: Multi-Scale Analyzer computes dT/dt, dP/dt, dRH/dt and diurnal baselines. Dual-Model Confluence fuses Model A (Weather) and Model B (Defects) into an auditable confidence score (0-100%).</a:t>
            </a:r>
            <a:br/>
            <a:r>
              <a:t>- 3.0 Operational Assurance: SHAP attributions (&lt;35ms), EWMA daily drift tracking (calibration warnings), and Multivariate LSTM Imputation (95% CI).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4800600"/>
            <a:ext cx="621792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3. WORKING PROTOTYPE &amp; LIVE EVALUATION RIG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Two-Laptop Live Demo: Laptop 1 (Hardware station emulator with keyboard chaos keys: [1] Spike, [2] Drift, [3] Squall Line, [0] Reset); Azure Cloud Core; Laptop 2 (Next.js 14 3D Twin &amp; live ML pipeline monitor).</a:t>
            </a:r>
            <a:br/>
            <a:r>
              <a:t>- Live Demonstration: Verified sub-15ms edge inference and zero false alarms during simulated squalls.</a:t>
            </a:r>
          </a:p>
        </p:txBody>
      </p:sp>
      <p:pic>
        <p:nvPicPr>
          <p:cNvPr id="17413" name="Picture 17412" descr="esp32_edge_hardw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51560"/>
            <a:ext cx="4663440" cy="3291840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6949440" y="4480560"/>
            <a:ext cx="4663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7490"/>
                </a:solidFill>
                <a:latin typeface="Arial"/>
              </a:defRPr>
            </a:pPr>
            <a:r>
              <a:t>HARDWARE PROTOTYPE: ESP32-S3 EDGE NODE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Benchmarked Footprint: &lt;120 KB Flash, &lt;48 KB SRAM.</a:t>
            </a:r>
            <a:br/>
            <a:r>
              <a:t>- Ultra-Fast Inference: &lt;15 ms latency on 12-step sliding window.</a:t>
            </a:r>
            <a:br/>
            <a:r>
              <a:t>- Multi-Sensor Acquisition: Real-time I2C polling of T, P, RH at 1 Hz with local circular Flash buffering.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FEASIBILITY, VIABILITY &amp; RISK 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[Insert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62179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1. MULTI-DIMENSIONAL FEASIBILITY ANALYSIS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- Hardware Feasibility: Deploys on off-the-shelf ESP32-S3 (INR 450 / $5). No expensive edge GPUs or specialized accelerators required.</a:t>
            </a:r>
            <a:br/>
            <a:r>
              <a:t>- Network &amp; Telecom Feasibility: Context burst architecture cuts uplink transmissions by &gt;90%, making AWS viable over 2G / NB-IoT / LoRaWAN in remote Himalayan and desert regions.</a:t>
            </a:r>
            <a:br/>
            <a:r>
              <a:t>- Institutional &amp; Standard Feasibility: Built strictly around IMD Climatological limits (-5 deg C to 55 deg C) and WMO-No. 8 standards for zero-friction integration into national meteorological networks.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48640" y="3154680"/>
            <a:ext cx="6217920" cy="3063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2. COMPREHENSIVE RISK MITIGATION STRATEGIES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- Risk: Total scarcity of real-world labeled sensor defect data in meteorology.</a:t>
            </a:r>
            <a:br/>
            <a:r>
              <a:t>  -&gt; Strategy: Mathematical Synthetic Fault Injections (Freeze, Spike, Noise Burst, Capacitive Drift, Packet Dropout) layered onto clean IMD weather series.</a:t>
            </a:r>
            <a:br/>
            <a:br/>
            <a:r>
              <a:t>- Risk: High false alarms when severe storms (squall lines) mimic sensor failure.</a:t>
            </a:r>
            <a:br/>
            <a:r>
              <a:t>  -&gt; Strategy: Dual-Model Confluence: Model A recognizes synchronized multi-sensor meteorological dynamics (&gt;=96% recall) while Model B isolates decoupled hardware faults.</a:t>
            </a:r>
            <a:br/>
            <a:br/>
            <a:r>
              <a:t>- Risk: Operator distrust of opaque black-box AI models.</a:t>
            </a:r>
            <a:br/>
            <a:r>
              <a:t>  -&gt; Strategy: SHAP Feature Attribution bars (&lt;35ms) + plain-English diagnostic justifications generated for every incident.</a:t>
            </a:r>
            <a:br/>
            <a:br/>
            <a:r>
              <a:t>- Risk: Slow environmental degradation causing gradual calibration drift.</a:t>
            </a:r>
            <a:br/>
            <a:r>
              <a:t>  -&gt; Strategy: EWMA Residual Drift Tracking (3.4) providing &gt;=14 days notice before tolerance breach.</a:t>
            </a:r>
          </a:p>
        </p:txBody>
      </p:sp>
      <p:pic>
        <p:nvPicPr>
          <p:cNvPr id="17412" name="Picture 17411" descr="digital_twin_u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51560"/>
            <a:ext cx="4663440" cy="329184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949440" y="4480560"/>
            <a:ext cx="4663440" cy="1737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7490"/>
                </a:solidFill>
                <a:latin typeface="Arial"/>
              </a:defRPr>
            </a:pPr>
            <a:r>
              <a:t>LIVE OPERATIONAL INTERFACE: 3D DIGITAL TWIN &amp; XAI</a:t>
            </a:r>
          </a:p>
          <a:p>
            <a:pPr>
              <a:spcBef>
                <a:spcPts val="3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- 3D Twin of Station AGRA-01: Camera automatically zooms and highlights culprit sensor shield upon confirmed defect.</a:t>
            </a:r>
            <a:br/>
            <a:r>
              <a:t>- High-Confidence Diagnostics: Instant 94.2% confidence alert badge with natural-language text justification.</a:t>
            </a:r>
            <a:br/>
            <a:r>
              <a:t>- SHAP Feature Attributions: Real-time bars explaining exactly why RH was flagged.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[Insert 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59669"/>
                </a:solidFill>
                <a:latin typeface="Arial"/>
              </a:defRPr>
            </a:pPr>
            <a:r>
              <a:t>&gt;= 85%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False Alarm Drop</a:t>
            </a:r>
          </a:p>
          <a:p>
            <a:pPr algn="ctr">
              <a:defRPr sz="850">
                <a:solidFill>
                  <a:srgbClr val="334155"/>
                </a:solidFill>
                <a:latin typeface="Arial"/>
              </a:defRPr>
            </a:pPr>
            <a:r>
              <a:t>Eliminates alarm fatigue during storms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346704" y="105156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E7490"/>
                </a:solidFill>
                <a:latin typeface="Arial"/>
              </a:defRPr>
            </a:pPr>
            <a:r>
              <a:t>&gt; 90%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Bandwidth Saved</a:t>
            </a:r>
          </a:p>
          <a:p>
            <a:pPr algn="ctr">
              <a:defRPr sz="850">
                <a:solidFill>
                  <a:srgbClr val="334155"/>
                </a:solidFill>
                <a:latin typeface="Arial"/>
              </a:defRPr>
            </a:pPr>
            <a:r>
              <a:t>Local circular buffer; context burst uplink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44768" y="105156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7C3AED"/>
                </a:solidFill>
                <a:latin typeface="Arial"/>
              </a:defRPr>
            </a:pPr>
            <a:r>
              <a:t>&lt; 15 ms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Edge Inference</a:t>
            </a:r>
          </a:p>
          <a:p>
            <a:pPr algn="ctr">
              <a:defRPr sz="850">
                <a:solidFill>
                  <a:srgbClr val="334155"/>
                </a:solidFill>
                <a:latin typeface="Arial"/>
              </a:defRPr>
            </a:pPr>
            <a:r>
              <a:t>Quantized INT8 autoencoder on ESP32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42832" y="1051560"/>
            <a:ext cx="265176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97706"/>
                </a:solidFill>
                <a:latin typeface="Arial"/>
              </a:defRPr>
            </a:pPr>
            <a:r>
              <a:t>&gt;= 14 Days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Drift Warning</a:t>
            </a:r>
          </a:p>
          <a:p>
            <a:pPr algn="ctr">
              <a:defRPr sz="850">
                <a:solidFill>
                  <a:srgbClr val="334155"/>
                </a:solidFill>
                <a:latin typeface="Arial"/>
              </a:defRPr>
            </a:pPr>
            <a:r>
              <a:t>Proactive EWMA recalibration schedule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2423160"/>
            <a:ext cx="6217920" cy="3794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1. IMPACT ON TARGET AUDIENCE &amp; OPERATORS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- IMD Field Station Operators (Meera): Eliminates false alarm fatigue. Clear plain-English diagnostic cards and 3D camera auto-targeting tell operators exactly which sensor failed and why in &lt;5s, avoiding wasted remote field trips.</a:t>
            </a:r>
            <a:br/>
            <a:r>
              <a:t>- Systems &amp; Telecom Engineers (Arjun): Conserves &gt;90% bandwidth; robust MQTT buffering survives intermittent cellular dropouts; ultra-light microcontroller resource footprint (&lt;48KB SRAM).</a:t>
            </a:r>
            <a:br/>
            <a:r>
              <a:t>- Meteorologists &amp; Climate Scientists (Dr. Rao): Multivariate LSTM Imputation reconstructs corrupt readings (MAE: T &lt;= 0.6 deg C, RH &lt;= 4.5%, P &lt;= 0.8 hPa), maintaining unbroken time series for numerical weather prediction (NWP) models.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  <a:latin typeface="Arial"/>
              </a:defRPr>
            </a:pPr>
            <a:r>
              <a:t>2. SOCIAL, ECONOMIC &amp; NATIONAL SIGNIFICANCE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- Economic Savings (OpEx Reduction): Drastically cuts operational logistics costs for state weather networks. Proactive drift notice (&gt;=14 days) prevents premature hardware replacement.</a:t>
            </a:r>
            <a:br/>
            <a:r>
              <a:t>- National Disaster Preparedness: Real-time, uncorrupted weather telemetry ensures accurate early warnings for extreme cyclonic storms, cloudbursts, and heatwaves, protecting human lives.</a:t>
            </a:r>
            <a:br/>
            <a:r>
              <a:t>- Agricultural Climate Resilience: Reliable micro-climate telemetry empowers precision agricultural advisories, drought forecasting, and crop insurance claim verification for Indian farmers.</a:t>
            </a:r>
          </a:p>
        </p:txBody>
      </p:sp>
      <p:pic>
        <p:nvPicPr>
          <p:cNvPr id="17415" name="Picture 17414" descr="meteorological_impac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423160"/>
            <a:ext cx="4663440" cy="2834640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6949440" y="5349240"/>
            <a:ext cx="46634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59669"/>
                </a:solidFill>
                <a:latin typeface="Arial"/>
              </a:defRPr>
            </a:pPr>
            <a:r>
              <a:t>FIELD CALIBRATION &amp; DISASTER EARLY WARNING</a:t>
            </a:r>
          </a:p>
          <a:p>
            <a:pPr>
              <a:spcBef>
                <a:spcPts val="200"/>
              </a:spcBef>
              <a:defRPr sz="900">
                <a:solidFill>
                  <a:srgbClr val="334155"/>
                </a:solidFill>
                <a:latin typeface="Arial"/>
              </a:defRPr>
            </a:pPr>
            <a:r>
              <a:t>Protects millions through trustworthy cyclone, cloudburst, and storm early warnings.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[Insert 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2044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1. METEOROLOGICAL STANDARDS</a:t>
            </a:r>
          </a:p>
          <a:p>
            <a:pPr>
              <a:spcBef>
                <a:spcPts val="6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India Meteorological Department (IMD):</a:t>
            </a:r>
            <a:br/>
            <a:r>
              <a:t>  Operational Guidelines for Automatic Weather Stations (AWS) &amp; Quality Control Protocols for Surface Meteorological Telemetry.</a:t>
            </a:r>
            <a:br/>
            <a:br/>
            <a:r>
              <a:t>- World Meteorological Organization (WMO):</a:t>
            </a:r>
            <a:br/>
            <a:r>
              <a:t>  Guide to Instruments and Methods of Observation (WMO-No. 8), Volume I: Measurement of Meteorological Variables; Chapter 12: Automated Weather Stations.</a:t>
            </a:r>
            <a:br/>
            <a:br/>
            <a:r>
              <a:t>- Atmospheric Thermodynamics:</a:t>
            </a:r>
            <a:br/>
            <a:r>
              <a:t>  Magnus-Tetens Dew Point Formulation and thermodynamic consistency relations (T &lt;-&gt; P &lt;-&gt; RH).</a:t>
            </a:r>
            <a:br/>
            <a:br/>
            <a:r>
              <a:t>- Climatological Quality Control:</a:t>
            </a:r>
            <a:br/>
            <a:r>
              <a:t>  Rigid physical limits (-5 deg C to 55 deg C, 900 to 1060 hPa) and step limits for instantaneous spike rejection.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97680" y="1051560"/>
            <a:ext cx="352044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7490"/>
                </a:solidFill>
                <a:latin typeface="Arial"/>
              </a:defRPr>
            </a:pPr>
            <a:r>
              <a:t>2. MACHINE LEARNING &amp; TIME-SERIES</a:t>
            </a:r>
          </a:p>
          <a:p>
            <a:pPr>
              <a:spcBef>
                <a:spcPts val="6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Explainable AI (SHAP):</a:t>
            </a:r>
            <a:br/>
            <a:r>
              <a:t>  Lundberg, S. M., &amp; Lee, S.-I. (2017). 'A Unified Approach to Interpreting Model Predictions.' Advances in Neural Information Processing Systems (NeurIPS 2017).</a:t>
            </a:r>
            <a:br/>
            <a:br/>
            <a:r>
              <a:t>- Edge Anomaly Detection:</a:t>
            </a:r>
            <a:br/>
            <a:r>
              <a:t>  Zhao, Y., et al. (2019). 'PyOD: A Python Toolbox for Scalable Outlier Detection.' Journal of Machine Learning Research (JMLR).</a:t>
            </a:r>
            <a:br/>
            <a:br/>
            <a:r>
              <a:t>- TinyML / Embedded Machine Learning:</a:t>
            </a:r>
            <a:br/>
            <a:r>
              <a:t>  Warden, P., &amp; Situnayake, D. (2019). 'TinyML: Machine Learning with TensorFlow Lite on Arduino and Ultra-Low-Power Microcontrollers.' O'Reilly Media.</a:t>
            </a:r>
            <a:br/>
            <a:br/>
            <a:r>
              <a:t>- Multivariate Time-Series Imputation:</a:t>
            </a:r>
            <a:br/>
            <a:r>
              <a:t>  Cao, W., et al. (2018). 'BRITS: Bidirectional Recurrent Imputation for Time Series.' NeurIPS 2018.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046720" y="1051560"/>
            <a:ext cx="3520440" cy="5166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59669"/>
                </a:solidFill>
                <a:latin typeface="Arial"/>
              </a:defRPr>
            </a:pPr>
            <a:r>
              <a:t>3. SYSTEM ARTIFACTS &amp; REPRODUCIBILITY</a:t>
            </a:r>
          </a:p>
          <a:p>
            <a:pPr>
              <a:spcBef>
                <a:spcPts val="600"/>
              </a:spcBef>
              <a:defRPr sz="919">
                <a:solidFill>
                  <a:srgbClr val="334155"/>
                </a:solidFill>
                <a:latin typeface="Arial"/>
              </a:defRPr>
            </a:pPr>
            <a:r>
              <a:t>- Statistical Process Control (Drift Tracking):</a:t>
            </a:r>
            <a:br/>
            <a:r>
              <a:t>  Montgomery, D. C. (2009). 'Introduction to Statistical Quality Control', 6th Ed. John Wiley &amp; Sons. (EWMA and CUSUM control limits for sensor calibration drift estimation).</a:t>
            </a:r>
            <a:br/>
            <a:br/>
            <a:r>
              <a:t>- System Implementation Repository:</a:t>
            </a:r>
            <a:br/>
            <a:r>
              <a:t>  Modular Split-Edge/Cloud architecture implemented with FastAPI 0.100+, Next.js 14.2, Three.js, Mosquitto MQTT, and Supabase PostgreSQL.</a:t>
            </a:r>
            <a:br/>
            <a:br/>
            <a:r>
              <a:t>- Synthetic Fault Generation Engine:</a:t>
            </a:r>
            <a:br/>
            <a:r>
              <a:t>  Mathematical formulation and injection framework for frozen flatlines, impulse spikes, noise bursts, and capacitive drift.</a:t>
            </a:r>
            <a:br/>
            <a:br/>
            <a:r>
              <a:t>- Project Specifications:</a:t>
            </a:r>
            <a:br/>
            <a:r>
              <a:t>  PRD.md (v2.1), ML Strat.md (v2.0), and System Architechture.md.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